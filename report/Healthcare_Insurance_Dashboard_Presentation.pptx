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152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7F154-8D59-4FB3-A737-DBCB431C8EB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91E4B4-E9E3-40C0-9288-3673D23D8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58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Focus on the revenue impact. Every 1% improvement in denial rate = ~$43K recovery on our dataset. Healthcare organizations are struggling to identify why denials happen. Our data-driven approach makes it visible and actionable.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that normalization eliminates redundancy and enables multi-level analysis. One hospital record vs. 100s of duplicates in flat file. Facilitates efficient JOIN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Query 6 is the bridge between SQL and Tableau. It pre-calculates all demographic segments so Tableau just needs to visualize. This is efficient design: computation in SQL, visualization in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visual centerpiece. The flow from KPIs → Trends → Analysis → Demographics → Details creates a narrative. The demographic heatmap is the 'aha!' moment where smoking status becomes visually obvious as a cost driver.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4 insights are the story. Lead with smoking—it's the biggest surprise and most actionable. Each insight maps to a Tableau visualization. Use the demo to show these insights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confident about these numbers. They're grounded in your data. $800K-$1.2M is substantial enough to justify the project. Emphasize this is 12-month impact on a 1,591-claim dataset—scale matters for larger populations.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2A962-CF84-01FA-7451-9C81203EB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9EFE4-78AE-9ABF-3C0E-760D8EEEE7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71595E-AC64-0148-8CE5-34518399A4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confident about these numbers. They're grounded in your data. $800K-$1.2M is substantial enough to justify the project. Emphasize this is 12-month impact on a 1,591-claim dataset—scale matters for larger populations.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5D565-69B6-88A9-2627-58DCFCF1F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50757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875771" y="2503827"/>
            <a:ext cx="3604497" cy="117152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rPr lang="en-US" sz="3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Healthcare Insurance Claim Analysis &amp; </a:t>
            </a:r>
            <a:r>
              <a:rPr lang="en-US" sz="3200" dirty="0">
                <a:solidFill>
                  <a:schemeClr val="tx2"/>
                </a:solidFill>
              </a:rPr>
              <a:t>Denial Patterns Dashboard</a:t>
            </a:r>
            <a:endParaRPr lang="en-US" sz="30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43224" y="3428999"/>
            <a:ext cx="3604268" cy="8388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2800">
                <a:solidFill>
                  <a:srgbClr val="3498DB"/>
                </a:solidFill>
              </a:defRPr>
            </a:pPr>
            <a:r>
              <a:rPr lang="en-US" sz="17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Executive MTech SQL &amp; Tableau Mini Project</a:t>
            </a:r>
          </a:p>
        </p:txBody>
      </p:sp>
      <p:pic>
        <p:nvPicPr>
          <p:cNvPr id="9" name="Graphic 8" descr="Stethoscope">
            <a:extLst>
              <a:ext uri="{FF2B5EF4-FFF2-40B4-BE49-F238E27FC236}">
                <a16:creationId xmlns:a16="http://schemas.microsoft.com/office/drawing/2014/main" id="{977BB540-842A-635F-BCBE-33E085D817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2394160" y="5669280"/>
            <a:ext cx="43556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800" i="1">
                <a:solidFill>
                  <a:srgbClr val="ECF0F1"/>
                </a:solidFill>
              </a:defRPr>
            </a:pPr>
            <a:r>
              <a:rPr dirty="0">
                <a:solidFill>
                  <a:schemeClr val="accent1"/>
                </a:solidFill>
              </a:rPr>
              <a:t>"Turning Claims Data Into Revenue Strategy"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93310" y="6400800"/>
            <a:ext cx="355738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rPr lang="en-US" sz="1400" dirty="0">
                <a:solidFill>
                  <a:schemeClr val="accent1"/>
                </a:solidFill>
              </a:rPr>
              <a:t>Chandana KS and Laxmi | September 18,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2" y="0"/>
            <a:ext cx="4235228" cy="6483075"/>
            <a:chOff x="-19221" y="0"/>
            <a:chExt cx="5646974" cy="648307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Rectangle 1"/>
          <p:cNvSpPr/>
          <p:nvPr/>
        </p:nvSpPr>
        <p:spPr>
          <a:xfrm>
            <a:off x="603504" y="2053641"/>
            <a:ext cx="2751870" cy="27600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35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67930" y="801866"/>
            <a:ext cx="3979563" cy="523063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rPr lang="en-US" sz="1600" b="1" dirty="0">
                <a:solidFill>
                  <a:schemeClr val="tx2"/>
                </a:solidFill>
              </a:rPr>
              <a:t>🔴 Healthcare Claim Denials: 3-5% Annual Revenue Loss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200" dirty="0">
                <a:solidFill>
                  <a:schemeClr val="tx2"/>
                </a:solidFill>
              </a:rPr>
              <a:t>Estimated impact: $128K-$215K annually on this dataset</a:t>
            </a:r>
          </a:p>
          <a:p>
            <a:pPr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rPr lang="en-US" sz="1600" b="1" dirty="0">
                <a:solidFill>
                  <a:schemeClr val="tx2"/>
                </a:solidFill>
              </a:rPr>
              <a:t>📊 Our Challenge: 1,549 Claims | $20.4M Total Spend | 6 US Regions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200" dirty="0">
                <a:solidFill>
                  <a:schemeClr val="tx2"/>
                </a:solidFill>
              </a:rPr>
              <a:t>Identify cost drivers and denial patterns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200" dirty="0">
                <a:solidFill>
                  <a:schemeClr val="tx2"/>
                </a:solidFill>
              </a:rPr>
              <a:t>Enable data-driven interventions</a:t>
            </a:r>
          </a:p>
          <a:p>
            <a:pPr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rPr lang="en-US" sz="1600" b="1" dirty="0">
                <a:solidFill>
                  <a:schemeClr val="tx2"/>
                </a:solidFill>
              </a:rPr>
              <a:t>🎯 Project Objective: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200" dirty="0">
                <a:solidFill>
                  <a:schemeClr val="tx2"/>
                </a:solidFill>
              </a:rPr>
              <a:t>Normalize data into relational schema (3NF)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200" dirty="0">
                <a:solidFill>
                  <a:schemeClr val="tx2"/>
                </a:solidFill>
              </a:rPr>
              <a:t>Analyze with SQL (7 analytical queries + demographic segmentation)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200" dirty="0">
                <a:solidFill>
                  <a:schemeClr val="tx2"/>
                </a:solidFill>
              </a:rPr>
              <a:t>Visualize with Tableau (8 interactive worksheets)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200" dirty="0">
                <a:solidFill>
                  <a:schemeClr val="tx2"/>
                </a:solidFill>
              </a:rPr>
              <a:t>Deliver actionable insights + financial 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2" y="0"/>
            <a:ext cx="4235228" cy="6483075"/>
            <a:chOff x="-19221" y="0"/>
            <a:chExt cx="5646974" cy="6483075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Rectangle 1"/>
          <p:cNvSpPr/>
          <p:nvPr/>
        </p:nvSpPr>
        <p:spPr>
          <a:xfrm>
            <a:off x="603504" y="2053641"/>
            <a:ext cx="2751870" cy="27600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Dataset &amp; Schema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67930" y="801866"/>
            <a:ext cx="3979563" cy="523063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rPr lang="en-US" sz="1600" b="1" dirty="0">
                <a:solidFill>
                  <a:schemeClr val="tx2"/>
                </a:solidFill>
              </a:rPr>
              <a:t>📋 Data Source: Insurance Claims Dataset (1,549 records)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Geographic: 6 US regions (NW, NE, SE, SW, Midwest, West)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Demographic: Age 19-64, BMI 16-49, Smoking status, Income level</a:t>
            </a:r>
            <a:endParaRPr lang="en-US" sz="12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rPr lang="en-US" sz="1600" b="1" dirty="0">
                <a:solidFill>
                  <a:schemeClr val="tx2"/>
                </a:solidFill>
              </a:rPr>
              <a:t>🗄️ 3NF Normalized Schema: 6 Tables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Patients (Demographics) ← 1:N Claims (Facts)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Hospitals (Dimension) ← 1:N Claims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Providers (Dimension) ← N:M Claims via </a:t>
            </a:r>
            <a:r>
              <a:rPr lang="en-US" sz="1300" dirty="0" err="1">
                <a:solidFill>
                  <a:schemeClr val="tx2"/>
                </a:solidFill>
              </a:rPr>
              <a:t>Claim_Details</a:t>
            </a:r>
            <a:endParaRPr lang="en-US" sz="1300" dirty="0">
              <a:solidFill>
                <a:schemeClr val="tx2"/>
              </a:solidFill>
            </a:endParaRP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Diagnoses (Dimension) ← N:M Claims via </a:t>
            </a:r>
            <a:r>
              <a:rPr lang="en-US" sz="1300" dirty="0" err="1">
                <a:solidFill>
                  <a:schemeClr val="tx2"/>
                </a:solidFill>
              </a:rPr>
              <a:t>Claim_Details</a:t>
            </a:r>
            <a:endParaRPr lang="en-US" sz="1300" dirty="0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endParaRPr lang="en-US" sz="12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rPr lang="en-US" sz="1600" b="1" dirty="0">
                <a:solidFill>
                  <a:schemeClr val="tx2"/>
                </a:solidFill>
              </a:rPr>
              <a:t>✅ Data Quality: No missing values in demographics | Outliers flagged via IQR</a:t>
            </a:r>
          </a:p>
          <a:p>
            <a:pPr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rPr lang="en-US" sz="1600" b="1" dirty="0">
                <a:solidFill>
                  <a:schemeClr val="tx2"/>
                </a:solidFill>
              </a:rPr>
              <a:t>✅ Referential Integrity: FOREIGN KEY constraints + CHECK constraints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2" y="0"/>
            <a:ext cx="4235228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Rectangle 1"/>
          <p:cNvSpPr/>
          <p:nvPr/>
        </p:nvSpPr>
        <p:spPr>
          <a:xfrm>
            <a:off x="603504" y="2053641"/>
            <a:ext cx="2751870" cy="27600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SQL Analytics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67930" y="801866"/>
            <a:ext cx="3979563" cy="523063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rPr lang="en-US" sz="1600" b="1" dirty="0">
                <a:solidFill>
                  <a:schemeClr val="tx2"/>
                </a:solidFill>
              </a:rPr>
              <a:t>🔍 7 SQL Analytical Patterns: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Multi-table JOINs → Claims by patient, hospital, provider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GROUP BY aggregation → Hospital performance scorecards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Window functions (RANK, LAG/LEAD) → Cost rankings, trends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CTEs &amp; subqueries → Patient lifetime value, high-cost cohorts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Statistical functions → STDDEV, percentiles, Pareto analysis</a:t>
            </a:r>
            <a:endParaRPr lang="en-US" sz="11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rPr lang="en-US" sz="1600" b="1" dirty="0">
                <a:solidFill>
                  <a:schemeClr val="tx2"/>
                </a:solidFill>
              </a:rPr>
              <a:t>⭐ Query 6: Demographic Risk Segmentation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Bucketing: Age (5 groups) × BMI (4 levels) × Smoker (Yes/No)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Calculates: COUNT, AVG(cost), STDDEV, Denial Rate per cohort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Reveals: Smoking = 5-10× cost multiplier (strongest driver)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Output: 40 demographic cells driving Tableau heatmap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2" y="0"/>
            <a:ext cx="4235228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Rectangle 1"/>
          <p:cNvSpPr/>
          <p:nvPr/>
        </p:nvSpPr>
        <p:spPr>
          <a:xfrm>
            <a:off x="603504" y="2053641"/>
            <a:ext cx="2751870" cy="27600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Tableau 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67930" y="801866"/>
            <a:ext cx="3979563" cy="523063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rPr lang="en-US" sz="1600" b="1" dirty="0">
                <a:solidFill>
                  <a:schemeClr val="tx2"/>
                </a:solidFill>
              </a:rPr>
              <a:t>📊 8 Interactive Worksheets → 1 Executive Dashboard</a:t>
            </a:r>
            <a:endParaRPr lang="en-US" sz="1000" dirty="0">
              <a:solidFill>
                <a:schemeClr val="tx2"/>
              </a:solidFill>
            </a:endParaRP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Row 1 (KPIs):      4 Summary Cards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Row 2 (Trends):    Monthly Spend Trend + Cost Concentration (Pareto)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Row 3 (Analysis):  Denial vs Cost Scatter + Regional Profile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Row 4 (HERO):      Patient Risk Segments Demographic Heatmap ⭐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Row 5 (Detail):    Geographic Heatmap + Claims Status Distribution</a:t>
            </a:r>
            <a:endParaRPr lang="en-US" sz="10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rPr lang="en-US" sz="1600" b="1" dirty="0">
                <a:solidFill>
                  <a:schemeClr val="tx2"/>
                </a:solidFill>
              </a:rPr>
              <a:t>🎨 Interactive Features: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300" dirty="0">
                <a:solidFill>
                  <a:schemeClr val="tx2"/>
                </a:solidFill>
              </a:rPr>
              <a:t>8 filter types (Region, Date, Status, Hospital, Smoker, Age, Cost Tier)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Cascading filters (Region → State)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Drill-down capability (Summary → Detail)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Color </a:t>
            </a:r>
            <a:r>
              <a:rPr lang="en-US" sz="1300">
                <a:solidFill>
                  <a:schemeClr val="tx2"/>
                </a:solidFill>
              </a:rPr>
              <a:t>encoding </a:t>
            </a:r>
            <a:endParaRPr lang="en-US" sz="13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2" y="0"/>
            <a:ext cx="4235228" cy="6483075"/>
            <a:chOff x="-19221" y="0"/>
            <a:chExt cx="5646974" cy="6483075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Rectangle 1"/>
          <p:cNvSpPr/>
          <p:nvPr/>
        </p:nvSpPr>
        <p:spPr>
          <a:xfrm>
            <a:off x="603504" y="2053641"/>
            <a:ext cx="2751870" cy="27600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Key Findings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67930" y="176241"/>
            <a:ext cx="3979563" cy="630683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rPr lang="en-US" sz="1700" b="1" dirty="0">
                <a:solidFill>
                  <a:schemeClr val="tx2"/>
                </a:solidFill>
              </a:rPr>
              <a:t>🔴 INSIGHT #1: Smoking = 5-10× Cost Multiplier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b="1" dirty="0">
                <a:solidFill>
                  <a:schemeClr val="tx2"/>
                </a:solidFill>
              </a:rPr>
              <a:t>Non-smoker: $2K-$8K average | Smoker: $17K-$39K average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b="1" dirty="0">
                <a:solidFill>
                  <a:schemeClr val="tx2"/>
                </a:solidFill>
              </a:rPr>
              <a:t>Age 56+ Obese Smoker = $45K (Highest-risk segment)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b="1" dirty="0">
                <a:solidFill>
                  <a:schemeClr val="tx2"/>
                </a:solidFill>
              </a:rPr>
              <a:t>Denial rate correlation: Smokers 8-12% vs Non-smokers 2-5%</a:t>
            </a:r>
            <a:endParaRPr lang="en-US" sz="1000" b="1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rPr lang="en-US" sz="1700" b="1" dirty="0">
                <a:solidFill>
                  <a:schemeClr val="tx2"/>
                </a:solidFill>
              </a:rPr>
              <a:t>📊 INSIGHT #2: Cost Concentration (Pareto)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b="1" dirty="0">
                <a:solidFill>
                  <a:schemeClr val="tx2"/>
                </a:solidFill>
              </a:rPr>
              <a:t>Top 3 hospitals = 60% of total cost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Targeting high-utilization providers yields best ROI</a:t>
            </a:r>
            <a:endParaRPr lang="en-US" sz="10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rPr lang="en-US" sz="1700" b="1" dirty="0">
                <a:solidFill>
                  <a:schemeClr val="tx2"/>
                </a:solidFill>
              </a:rPr>
              <a:t>🗺️ INSIGHT #3: Regional Variation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b="1" dirty="0">
                <a:solidFill>
                  <a:schemeClr val="tx2"/>
                </a:solidFill>
              </a:rPr>
              <a:t>Southeast = Highest cost ($3,200 avg) + highest denial rate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Midwest/West = Lower cost (newer enriched data</a:t>
            </a:r>
            <a:r>
              <a:rPr lang="en-US" sz="1400" dirty="0">
                <a:solidFill>
                  <a:schemeClr val="tx2"/>
                </a:solidFill>
              </a:rPr>
              <a:t>)</a:t>
            </a:r>
            <a:endParaRPr lang="en-US" sz="10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rPr lang="en-US" sz="1700" b="1" dirty="0">
                <a:solidFill>
                  <a:schemeClr val="tx2"/>
                </a:solidFill>
              </a:rPr>
              <a:t>⚠️ INSIGHT #4: </a:t>
            </a:r>
            <a:r>
              <a:rPr lang="en-US" sz="1700" b="1" dirty="0" err="1">
                <a:solidFill>
                  <a:schemeClr val="tx2"/>
                </a:solidFill>
              </a:rPr>
              <a:t>Denial↔Cost</a:t>
            </a:r>
            <a:r>
              <a:rPr lang="en-US" sz="1700" b="1" dirty="0">
                <a:solidFill>
                  <a:schemeClr val="tx2"/>
                </a:solidFill>
              </a:rPr>
              <a:t> Correlation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300" dirty="0">
                <a:solidFill>
                  <a:schemeClr val="tx2"/>
                </a:solidFill>
              </a:rPr>
              <a:t>High-cost providers have high denial rates → Documentation/eligibility issues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2" y="0"/>
            <a:ext cx="4235228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Rectangle 1"/>
          <p:cNvSpPr/>
          <p:nvPr/>
        </p:nvSpPr>
        <p:spPr>
          <a:xfrm>
            <a:off x="603504" y="2053641"/>
            <a:ext cx="2751870" cy="27600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Recommendations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67930" y="176241"/>
            <a:ext cx="4333699" cy="668175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rPr lang="en-US" sz="1600" b="1" dirty="0">
                <a:solidFill>
                  <a:schemeClr val="tx2"/>
                </a:solidFill>
              </a:rPr>
              <a:t>💡 RECOMMENDATION #1: Implement Risk-Based Smoking Premium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200" dirty="0">
                <a:solidFill>
                  <a:schemeClr val="tx2"/>
                </a:solidFill>
              </a:rPr>
              <a:t>Add $800-$1,200 annual premium for smoker status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200" dirty="0">
                <a:solidFill>
                  <a:schemeClr val="tx2"/>
                </a:solidFill>
              </a:rPr>
              <a:t>Impact: $400K-$600K annual revenue recovery</a:t>
            </a:r>
            <a:endParaRPr lang="en-US" sz="8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rPr lang="en-US" sz="1600" b="1" dirty="0">
                <a:solidFill>
                  <a:schemeClr val="tx2"/>
                </a:solidFill>
              </a:rPr>
              <a:t>🏥 RECOMMENDATION #2: Launch Targeted Prevention Program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200" dirty="0">
                <a:solidFill>
                  <a:schemeClr val="tx2"/>
                </a:solidFill>
              </a:rPr>
              <a:t>Focus: Age 46-55 smoker cohort (high volume + addressable risk)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200" dirty="0">
                <a:solidFill>
                  <a:schemeClr val="tx2"/>
                </a:solidFill>
              </a:rPr>
              <a:t>Impact: $150K-$300K annual cost reduction</a:t>
            </a:r>
            <a:endParaRPr lang="en-US" sz="8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rPr lang="en-US" sz="1600" b="1" dirty="0">
                <a:solidFill>
                  <a:schemeClr val="tx2"/>
                </a:solidFill>
              </a:rPr>
              <a:t>📋 RECOMMENDATION #3: Conduct Denial Review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200" dirty="0">
                <a:solidFill>
                  <a:schemeClr val="tx2"/>
                </a:solidFill>
              </a:rPr>
              <a:t>Scope: High-risk cohorts (obese smokers, complex diagnoses)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200" dirty="0">
                <a:solidFill>
                  <a:schemeClr val="tx2"/>
                </a:solidFill>
              </a:rPr>
              <a:t>Goal: Reduce denial 8-12% → 3-5% 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200" dirty="0">
                <a:solidFill>
                  <a:schemeClr val="tx2"/>
                </a:solidFill>
              </a:rPr>
              <a:t>Impact: $200K-$300K prevented claim reversals</a:t>
            </a:r>
            <a:endParaRPr lang="en-US" sz="8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rPr lang="en-US" sz="1600" b="1" dirty="0">
                <a:solidFill>
                  <a:schemeClr val="tx2"/>
                </a:solidFill>
              </a:rPr>
              <a:t>📈 RECOMMENDATION #4: Real-Time Dashboard Monitoring</a:t>
            </a:r>
          </a:p>
          <a:p>
            <a:pPr lvl="1"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1200" dirty="0">
                <a:solidFill>
                  <a:schemeClr val="tx2"/>
                </a:solidFill>
              </a:rPr>
              <a:t> Weekly KPI reviews + alerts for denial rate &gt;5%</a:t>
            </a:r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endParaRPr lang="en-US" sz="800" b="1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rPr lang="en-US" sz="1600" b="1" dirty="0">
                <a:solidFill>
                  <a:schemeClr val="tx2"/>
                </a:solidFill>
              </a:rPr>
              <a:t>💰 TOTAL ESTIMATED ANNUAL IMPACT: $750K - $1.2M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981AB0-7240-C42E-6A15-C6990C62E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419635-C1E2-AAD1-B452-D0B90D3E7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C25309-FD84-FBBD-5346-204E1907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A0AE65-641D-B6BC-DDA2-090849CAF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2" y="0"/>
            <a:ext cx="4235228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9F733B1-DC01-4029-83B0-6663EAF2E4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0823F22-44E4-BBE4-B836-5D775C57C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84533D2-3490-06BF-FDB1-4BC7BD7A6A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D0F6565-C312-FC4E-4D64-7E1BC94BD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0EF32A-DD9B-AF8A-3791-F95AC533D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BD77A7C-B8D3-C4F4-B567-59780F9D08EC}"/>
              </a:ext>
            </a:extLst>
          </p:cNvPr>
          <p:cNvSpPr/>
          <p:nvPr/>
        </p:nvSpPr>
        <p:spPr>
          <a:xfrm>
            <a:off x="1806766" y="2553801"/>
            <a:ext cx="5332164" cy="137535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82778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9A802C-AB0E-42F6-9F42-9D75CDB46640}">
  <we:reference id="WA200005566" version="3.0.0.3" store="Omex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ee432821-41d3-4015-8400-4ae6558dd28f}" enabled="1" method="Privileged" siteId="{8c7a02b0-b409-4a14-8332-6772575f453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987</Words>
  <Application>Microsoft Office PowerPoint</Application>
  <PresentationFormat>On-screen Show (4:3)</PresentationFormat>
  <Paragraphs>87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vinayak 66</cp:lastModifiedBy>
  <cp:revision>9</cp:revision>
  <dcterms:created xsi:type="dcterms:W3CDTF">2013-01-27T09:14:16Z</dcterms:created>
  <dcterms:modified xsi:type="dcterms:W3CDTF">2026-09-18T09:52:07Z</dcterms:modified>
  <cp:category/>
</cp:coreProperties>
</file>